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0"/>
  </p:notesMasterIdLst>
  <p:sldIdLst>
    <p:sldId id="306" r:id="rId2"/>
    <p:sldId id="305" r:id="rId3"/>
    <p:sldId id="259" r:id="rId4"/>
    <p:sldId id="258" r:id="rId5"/>
    <p:sldId id="307" r:id="rId6"/>
    <p:sldId id="308" r:id="rId7"/>
    <p:sldId id="309" r:id="rId8"/>
    <p:sldId id="310" r:id="rId9"/>
  </p:sldIdLst>
  <p:sldSz cx="9144000" cy="5143500" type="screen16x9"/>
  <p:notesSz cx="6858000" cy="9144000"/>
  <p:embeddedFontLst>
    <p:embeddedFont>
      <p:font typeface="IBM Plex Sans KR" charset="-127"/>
      <p:regular r:id="rId11"/>
      <p:bold r:id="rId12"/>
    </p:embeddedFont>
    <p:embeddedFont>
      <p:font typeface="IBM Plex Sans KR SemiBold" charset="-127"/>
      <p:regular r:id="rId13"/>
      <p:bold r:id="rId14"/>
    </p:embeddedFont>
    <p:embeddedFont>
      <p:font typeface="Chivo" charset="0"/>
      <p:regular r:id="rId15"/>
      <p:bold r:id="rId16"/>
      <p:italic r:id="rId17"/>
      <p:boldItalic r:id="rId18"/>
    </p:embeddedFont>
    <p:embeddedFont>
      <p:font typeface="DM Sans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59F41EC-A005-46B3-B8D8-B6D34A16B7D9}">
  <a:tblStyle styleId="{559F41EC-A005-46B3-B8D8-B6D34A16B7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748ab2ff4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748ab2ff4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75d05fb915_0_28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75d05fb915_0_28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l="47834" t="13344" r="12717"/>
          <a:stretch/>
        </p:blipFill>
        <p:spPr>
          <a:xfrm rot="-2298990">
            <a:off x="6376314" y="449376"/>
            <a:ext cx="3196498" cy="445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 r="19820" b="20741"/>
          <a:stretch/>
        </p:blipFill>
        <p:spPr>
          <a:xfrm rot="3699099" flipH="1">
            <a:off x="-1294149" y="-401573"/>
            <a:ext cx="4639799" cy="407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4">
            <a:alphaModFix/>
          </a:blip>
          <a:srcRect r="20025" b="14317"/>
          <a:stretch/>
        </p:blipFill>
        <p:spPr>
          <a:xfrm rot="3699096" flipH="1">
            <a:off x="-1516868" y="-413537"/>
            <a:ext cx="4767712" cy="44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720000" y="13300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0" y="-213351"/>
            <a:ext cx="9291676" cy="5356850"/>
            <a:chOff x="0" y="-213351"/>
            <a:chExt cx="9291676" cy="5356850"/>
          </a:xfrm>
        </p:grpSpPr>
        <p:pic>
          <p:nvPicPr>
            <p:cNvPr id="42" name="Google Shape;42;p6"/>
            <p:cNvPicPr preferRelativeResize="0"/>
            <p:nvPr/>
          </p:nvPicPr>
          <p:blipFill rotWithShape="1">
            <a:blip r:embed="rId2">
              <a:alphaModFix/>
            </a:blip>
            <a:srcRect l="2684" t="45486" r="19730" b="10135"/>
            <a:stretch/>
          </p:blipFill>
          <p:spPr>
            <a:xfrm flipH="1">
              <a:off x="0" y="2860900"/>
              <a:ext cx="6286500" cy="2282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6"/>
            <p:cNvPicPr preferRelativeResize="0"/>
            <p:nvPr/>
          </p:nvPicPr>
          <p:blipFill rotWithShape="1">
            <a:blip r:embed="rId3">
              <a:alphaModFix/>
            </a:blip>
            <a:srcRect t="65464" r="73513"/>
            <a:stretch/>
          </p:blipFill>
          <p:spPr>
            <a:xfrm>
              <a:off x="7875025" y="0"/>
              <a:ext cx="1268975" cy="1776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44;p6"/>
            <p:cNvPicPr preferRelativeResize="0"/>
            <p:nvPr/>
          </p:nvPicPr>
          <p:blipFill rotWithShape="1">
            <a:blip r:embed="rId4">
              <a:alphaModFix/>
            </a:blip>
            <a:srcRect l="20077" t="56314" r="64650"/>
            <a:stretch/>
          </p:blipFill>
          <p:spPr>
            <a:xfrm rot="5653386">
              <a:off x="7675629" y="-793734"/>
              <a:ext cx="923244" cy="22469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2549400" y="11692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ubTitle" idx="1"/>
          </p:nvPr>
        </p:nvSpPr>
        <p:spPr>
          <a:xfrm>
            <a:off x="2549400" y="27391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3"/>
          <p:cNvPicPr preferRelativeResize="0"/>
          <p:nvPr/>
        </p:nvPicPr>
        <p:blipFill rotWithShape="1">
          <a:blip r:embed="rId2">
            <a:alphaModFix/>
          </a:blip>
          <a:srcRect l="8864" t="18146" r="71143"/>
          <a:stretch/>
        </p:blipFill>
        <p:spPr>
          <a:xfrm rot="5400000">
            <a:off x="6467473" y="-1533524"/>
            <a:ext cx="1181102" cy="421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 rotWithShape="1">
          <a:blip r:embed="rId3">
            <a:alphaModFix/>
          </a:blip>
          <a:srcRect r="18380" b="42266"/>
          <a:stretch/>
        </p:blipFill>
        <p:spPr>
          <a:xfrm rot="10800000">
            <a:off x="-19051" y="-2"/>
            <a:ext cx="4865801" cy="29694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713225" y="2193175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2"/>
          </p:nvPr>
        </p:nvSpPr>
        <p:spPr>
          <a:xfrm>
            <a:off x="713225" y="3844178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3"/>
          </p:nvPr>
        </p:nvSpPr>
        <p:spPr>
          <a:xfrm>
            <a:off x="3419250" y="3844178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4"/>
          </p:nvPr>
        </p:nvSpPr>
        <p:spPr>
          <a:xfrm>
            <a:off x="3419250" y="2193175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5" hasCustomPrompt="1"/>
          </p:nvPr>
        </p:nvSpPr>
        <p:spPr>
          <a:xfrm>
            <a:off x="1415375" y="13183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6" hasCustomPrompt="1"/>
          </p:nvPr>
        </p:nvSpPr>
        <p:spPr>
          <a:xfrm>
            <a:off x="4121400" y="296945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7" hasCustomPrompt="1"/>
          </p:nvPr>
        </p:nvSpPr>
        <p:spPr>
          <a:xfrm>
            <a:off x="1415375" y="296945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8" hasCustomPrompt="1"/>
          </p:nvPr>
        </p:nvSpPr>
        <p:spPr>
          <a:xfrm>
            <a:off x="4121400" y="13183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9"/>
          </p:nvPr>
        </p:nvSpPr>
        <p:spPr>
          <a:xfrm>
            <a:off x="6125275" y="3844178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3"/>
          </p:nvPr>
        </p:nvSpPr>
        <p:spPr>
          <a:xfrm>
            <a:off x="6125275" y="2193175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4" hasCustomPrompt="1"/>
          </p:nvPr>
        </p:nvSpPr>
        <p:spPr>
          <a:xfrm>
            <a:off x="6827425" y="296945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5" hasCustomPrompt="1"/>
          </p:nvPr>
        </p:nvSpPr>
        <p:spPr>
          <a:xfrm>
            <a:off x="6827425" y="13183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6"/>
          </p:nvPr>
        </p:nvSpPr>
        <p:spPr>
          <a:xfrm>
            <a:off x="713225" y="1911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7"/>
          </p:nvPr>
        </p:nvSpPr>
        <p:spPr>
          <a:xfrm>
            <a:off x="713225" y="356277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8"/>
          </p:nvPr>
        </p:nvSpPr>
        <p:spPr>
          <a:xfrm>
            <a:off x="3419250" y="356277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9"/>
          </p:nvPr>
        </p:nvSpPr>
        <p:spPr>
          <a:xfrm>
            <a:off x="3419250" y="1911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20"/>
          </p:nvPr>
        </p:nvSpPr>
        <p:spPr>
          <a:xfrm>
            <a:off x="6125275" y="356277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1"/>
          </p:nvPr>
        </p:nvSpPr>
        <p:spPr>
          <a:xfrm>
            <a:off x="6125275" y="1911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1" name="Google Shape;111;p15"/>
          <p:cNvGrpSpPr/>
          <p:nvPr/>
        </p:nvGrpSpPr>
        <p:grpSpPr>
          <a:xfrm>
            <a:off x="-1021275" y="2163451"/>
            <a:ext cx="10184325" cy="3407123"/>
            <a:chOff x="-1021275" y="2163451"/>
            <a:chExt cx="10184325" cy="3407123"/>
          </a:xfrm>
        </p:grpSpPr>
        <p:pic>
          <p:nvPicPr>
            <p:cNvPr id="112" name="Google Shape;112;p15"/>
            <p:cNvPicPr preferRelativeResize="0"/>
            <p:nvPr/>
          </p:nvPicPr>
          <p:blipFill rotWithShape="1">
            <a:blip r:embed="rId2">
              <a:alphaModFix/>
            </a:blip>
            <a:srcRect l="25980" t="8247" b="77307"/>
            <a:stretch/>
          </p:blipFill>
          <p:spPr>
            <a:xfrm rot="10800000">
              <a:off x="4789950" y="4400551"/>
              <a:ext cx="4373100" cy="742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5"/>
            <p:cNvPicPr preferRelativeResize="0"/>
            <p:nvPr/>
          </p:nvPicPr>
          <p:blipFill rotWithShape="1">
            <a:blip r:embed="rId3">
              <a:alphaModFix/>
            </a:blip>
            <a:srcRect t="55547" r="55703" b="20753"/>
            <a:stretch/>
          </p:blipFill>
          <p:spPr>
            <a:xfrm rot="5543078">
              <a:off x="-803854" y="3495776"/>
              <a:ext cx="2563382" cy="1218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5"/>
            <p:cNvPicPr preferRelativeResize="0"/>
            <p:nvPr/>
          </p:nvPicPr>
          <p:blipFill rotWithShape="1">
            <a:blip r:embed="rId4">
              <a:alphaModFix/>
            </a:blip>
            <a:srcRect t="52710" r="34223" b="22293"/>
            <a:stretch/>
          </p:blipFill>
          <p:spPr>
            <a:xfrm rot="6520601">
              <a:off x="-1487007" y="3224196"/>
              <a:ext cx="3161939" cy="128563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7"/>
          <p:cNvPicPr preferRelativeResize="0"/>
          <p:nvPr/>
        </p:nvPicPr>
        <p:blipFill rotWithShape="1">
          <a:blip r:embed="rId2">
            <a:alphaModFix/>
          </a:blip>
          <a:srcRect l="8864" t="6505" r="7662" b="158"/>
          <a:stretch/>
        </p:blipFill>
        <p:spPr>
          <a:xfrm rot="-8726044">
            <a:off x="1083099" y="145770"/>
            <a:ext cx="6919705" cy="67362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7"/>
          <p:cNvGrpSpPr/>
          <p:nvPr/>
        </p:nvGrpSpPr>
        <p:grpSpPr>
          <a:xfrm rot="6888261">
            <a:off x="-1212356" y="-1409328"/>
            <a:ext cx="5436197" cy="4738909"/>
            <a:chOff x="-1577595" y="1657980"/>
            <a:chExt cx="5436470" cy="4739147"/>
          </a:xfrm>
        </p:grpSpPr>
        <p:pic>
          <p:nvPicPr>
            <p:cNvPr id="238" name="Google Shape;238;p27"/>
            <p:cNvPicPr preferRelativeResize="0"/>
            <p:nvPr/>
          </p:nvPicPr>
          <p:blipFill rotWithShape="1">
            <a:blip r:embed="rId3">
              <a:alphaModFix/>
            </a:blip>
            <a:srcRect l="56870" b="63840"/>
            <a:stretch/>
          </p:blipFill>
          <p:spPr>
            <a:xfrm rot="811131" flipH="1">
              <a:off x="-191263" y="4017526"/>
              <a:ext cx="2495805" cy="1859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7"/>
            <p:cNvPicPr preferRelativeResize="0"/>
            <p:nvPr/>
          </p:nvPicPr>
          <p:blipFill rotWithShape="1">
            <a:blip r:embed="rId4">
              <a:alphaModFix/>
            </a:blip>
            <a:srcRect r="8867" b="169"/>
            <a:stretch/>
          </p:blipFill>
          <p:spPr>
            <a:xfrm rot="5647693">
              <a:off x="-1049802" y="1460345"/>
              <a:ext cx="4380885" cy="513441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8"/>
          <p:cNvPicPr preferRelativeResize="0"/>
          <p:nvPr/>
        </p:nvPicPr>
        <p:blipFill rotWithShape="1">
          <a:blip r:embed="rId2">
            <a:alphaModFix/>
          </a:blip>
          <a:srcRect t="79017" r="36289" b="2834"/>
          <a:stretch/>
        </p:blipFill>
        <p:spPr>
          <a:xfrm rot="5400000">
            <a:off x="-2076526" y="2095623"/>
            <a:ext cx="5162552" cy="933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8"/>
          <p:cNvPicPr preferRelativeResize="0"/>
          <p:nvPr/>
        </p:nvPicPr>
        <p:blipFill rotWithShape="1">
          <a:blip r:embed="rId3">
            <a:alphaModFix/>
          </a:blip>
          <a:srcRect l="71689" b="32345"/>
          <a:stretch/>
        </p:blipFill>
        <p:spPr>
          <a:xfrm rot="-10082865">
            <a:off x="7911089" y="-155261"/>
            <a:ext cx="1638246" cy="3479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 rotWithShape="1">
          <a:blip r:embed="rId4">
            <a:alphaModFix/>
          </a:blip>
          <a:srcRect l="5809" t="15286" r="25842" b="21152"/>
          <a:stretch/>
        </p:blipFill>
        <p:spPr>
          <a:xfrm rot="-5399985">
            <a:off x="5491239" y="294895"/>
            <a:ext cx="4074501" cy="3269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9"/>
          <p:cNvPicPr preferRelativeResize="0"/>
          <p:nvPr/>
        </p:nvPicPr>
        <p:blipFill rotWithShape="1">
          <a:blip r:embed="rId2">
            <a:alphaModFix/>
          </a:blip>
          <a:srcRect l="32049" t="9726" r="7560" b="79413"/>
          <a:stretch/>
        </p:blipFill>
        <p:spPr>
          <a:xfrm>
            <a:off x="0" y="-19050"/>
            <a:ext cx="3567898" cy="5585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9"/>
          <p:cNvGrpSpPr/>
          <p:nvPr/>
        </p:nvGrpSpPr>
        <p:grpSpPr>
          <a:xfrm rot="-5400000" flipH="1">
            <a:off x="5346300" y="1345800"/>
            <a:ext cx="4375950" cy="3219452"/>
            <a:chOff x="4768050" y="1924050"/>
            <a:chExt cx="4375950" cy="3219452"/>
          </a:xfrm>
        </p:grpSpPr>
        <p:pic>
          <p:nvPicPr>
            <p:cNvPr id="247" name="Google Shape;247;p29"/>
            <p:cNvPicPr preferRelativeResize="0"/>
            <p:nvPr/>
          </p:nvPicPr>
          <p:blipFill rotWithShape="1">
            <a:blip r:embed="rId3">
              <a:alphaModFix/>
            </a:blip>
            <a:srcRect t="51003" r="51909" b="19736"/>
            <a:stretch/>
          </p:blipFill>
          <p:spPr>
            <a:xfrm>
              <a:off x="6361100" y="3638549"/>
              <a:ext cx="2782900" cy="1504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9"/>
            <p:cNvPicPr preferRelativeResize="0"/>
            <p:nvPr/>
          </p:nvPicPr>
          <p:blipFill rotWithShape="1">
            <a:blip r:embed="rId4">
              <a:alphaModFix/>
            </a:blip>
            <a:srcRect t="17670" r="26594" b="19735"/>
            <a:stretch/>
          </p:blipFill>
          <p:spPr>
            <a:xfrm>
              <a:off x="4768050" y="1924050"/>
              <a:ext cx="4375950" cy="32194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 KR SemiBold"/>
              <a:buNone/>
              <a:defRPr sz="3400">
                <a:solidFill>
                  <a:schemeClr val="dk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hivo"/>
              <a:buChar char="●"/>
              <a:defRPr sz="1800">
                <a:solidFill>
                  <a:schemeClr val="dk2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>
                <a:solidFill>
                  <a:schemeClr val="dk2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>
                <a:solidFill>
                  <a:schemeClr val="dk2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>
                <a:solidFill>
                  <a:schemeClr val="dk2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>
                <a:solidFill>
                  <a:schemeClr val="dk2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>
                <a:solidFill>
                  <a:schemeClr val="dk2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>
                <a:solidFill>
                  <a:schemeClr val="dk2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>
                <a:solidFill>
                  <a:schemeClr val="dk2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>
                <a:solidFill>
                  <a:schemeClr val="dk2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5" r:id="rId3"/>
    <p:sldLayoutId id="2147483658" r:id="rId4"/>
    <p:sldLayoutId id="2147483659" r:id="rId5"/>
    <p:sldLayoutId id="2147483661" r:id="rId6"/>
    <p:sldLayoutId id="2147483673" r:id="rId7"/>
    <p:sldLayoutId id="2147483674" r:id="rId8"/>
    <p:sldLayoutId id="214748367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1714494"/>
            <a:ext cx="7704000" cy="928694"/>
          </a:xfrm>
        </p:spPr>
        <p:txBody>
          <a:bodyPr/>
          <a:lstStyle/>
          <a:p>
            <a:r>
              <a:rPr lang="en-US" sz="4400" b="1" dirty="0" smtClean="0">
                <a:latin typeface="IBM Plex Sans KR"/>
                <a:ea typeface="IBM Plex Sans KR"/>
                <a:cs typeface="IBM Plex Sans KR"/>
                <a:sym typeface="IBM Plex Sans KR"/>
              </a:rPr>
              <a:t>Cyclic Redundancy </a:t>
            </a:r>
            <a:r>
              <a:rPr lang="en-US" sz="4400" b="1" dirty="0" smtClean="0">
                <a:latin typeface="IBM Plex Sans KR"/>
                <a:ea typeface="IBM Plex Sans KR"/>
                <a:cs typeface="IBM Plex Sans KR"/>
                <a:sym typeface="IBM Plex Sans KR"/>
              </a:rPr>
              <a:t>Check</a:t>
            </a:r>
            <a:br>
              <a:rPr lang="en-US" sz="4400" b="1" dirty="0" smtClean="0">
                <a:latin typeface="IBM Plex Sans KR"/>
                <a:ea typeface="IBM Plex Sans KR"/>
                <a:cs typeface="IBM Plex Sans KR"/>
                <a:sym typeface="IBM Plex Sans KR"/>
              </a:rPr>
            </a:br>
            <a:r>
              <a:rPr lang="en-US" sz="4400" b="1" dirty="0" smtClean="0">
                <a:latin typeface="IBM Plex Sans KR"/>
                <a:ea typeface="IBM Plex Sans KR"/>
                <a:cs typeface="IBM Plex Sans KR"/>
                <a:sym typeface="IBM Plex Sans KR"/>
              </a:rPr>
              <a:t>(CRC)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14348" y="1500180"/>
            <a:ext cx="7704000" cy="3233100"/>
          </a:xfrm>
        </p:spPr>
        <p:txBody>
          <a:bodyPr/>
          <a:lstStyle/>
          <a:p>
            <a:r>
              <a:rPr lang="en-US" sz="1800" b="1" dirty="0" smtClean="0">
                <a:latin typeface="Chivo" charset="0"/>
                <a:ea typeface="Chivo" charset="0"/>
                <a:cs typeface="Chivo" charset="0"/>
              </a:rPr>
              <a:t>NAME : JANI KHUSHI AIMESHKUMAR</a:t>
            </a:r>
          </a:p>
          <a:p>
            <a:endParaRPr lang="en-US" sz="1800" b="1" dirty="0" smtClean="0">
              <a:latin typeface="Chivo" charset="0"/>
              <a:ea typeface="Chivo" charset="0"/>
              <a:cs typeface="Chivo" charset="0"/>
            </a:endParaRPr>
          </a:p>
          <a:p>
            <a:r>
              <a:rPr lang="en-US" sz="1800" b="1" dirty="0" smtClean="0">
                <a:latin typeface="Chivo" charset="0"/>
                <a:ea typeface="Chivo" charset="0"/>
                <a:cs typeface="Chivo" charset="0"/>
              </a:rPr>
              <a:t>ROLLNO : 15</a:t>
            </a:r>
          </a:p>
          <a:p>
            <a:endParaRPr lang="en-US" sz="1800" b="1" dirty="0" smtClean="0">
              <a:latin typeface="Chivo" charset="0"/>
              <a:ea typeface="Chivo" charset="0"/>
              <a:cs typeface="Chivo" charset="0"/>
            </a:endParaRPr>
          </a:p>
          <a:p>
            <a:r>
              <a:rPr lang="en-US" sz="1800" b="1" dirty="0" smtClean="0">
                <a:latin typeface="Chivo" charset="0"/>
                <a:ea typeface="Chivo" charset="0"/>
                <a:cs typeface="Chivo" charset="0"/>
              </a:rPr>
              <a:t>DIV : A1</a:t>
            </a:r>
          </a:p>
          <a:p>
            <a:endParaRPr lang="en-US" sz="1800" b="1" dirty="0" smtClean="0">
              <a:latin typeface="Chivo" charset="0"/>
              <a:ea typeface="Chivo" charset="0"/>
              <a:cs typeface="Chivo" charset="0"/>
            </a:endParaRPr>
          </a:p>
          <a:p>
            <a:r>
              <a:rPr lang="en-US" sz="1800" b="1" dirty="0" smtClean="0">
                <a:latin typeface="Chivo" charset="0"/>
                <a:ea typeface="Chivo" charset="0"/>
                <a:cs typeface="Chivo" charset="0"/>
              </a:rPr>
              <a:t>ENROLL NO. : 22002170110045</a:t>
            </a:r>
          </a:p>
          <a:p>
            <a:endParaRPr lang="en-US" sz="1800" b="1" dirty="0" smtClean="0">
              <a:latin typeface="Chivo" charset="0"/>
              <a:ea typeface="Chivo" charset="0"/>
              <a:cs typeface="Chivo" charset="0"/>
            </a:endParaRPr>
          </a:p>
          <a:p>
            <a:r>
              <a:rPr lang="en-US" sz="1800" b="1" dirty="0" smtClean="0">
                <a:latin typeface="Chivo" charset="0"/>
                <a:ea typeface="Chivo" charset="0"/>
                <a:cs typeface="Chivo" charset="0"/>
              </a:rPr>
              <a:t>BRANCH : CE</a:t>
            </a:r>
            <a:endParaRPr lang="en-US" sz="1800" b="1" dirty="0">
              <a:latin typeface="Chivo" charset="0"/>
              <a:ea typeface="Chivo" charset="0"/>
              <a:cs typeface="Chivo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PREPARED   BY:-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title" idx="5"/>
          </p:nvPr>
        </p:nvSpPr>
        <p:spPr>
          <a:xfrm>
            <a:off x="1928794" y="1214428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/>
          </a:p>
        </p:txBody>
      </p:sp>
      <p:sp>
        <p:nvSpPr>
          <p:cNvPr id="291" name="Google Shape;291;p36"/>
          <p:cNvSpPr txBox="1">
            <a:spLocks noGrp="1"/>
          </p:cNvSpPr>
          <p:nvPr>
            <p:ph type="title" idx="7"/>
          </p:nvPr>
        </p:nvSpPr>
        <p:spPr>
          <a:xfrm>
            <a:off x="6357950" y="292894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/>
          </a:p>
        </p:txBody>
      </p:sp>
      <p:sp>
        <p:nvSpPr>
          <p:cNvPr id="292" name="Google Shape;292;p36"/>
          <p:cNvSpPr txBox="1">
            <a:spLocks noGrp="1"/>
          </p:cNvSpPr>
          <p:nvPr>
            <p:ph type="title" idx="8"/>
          </p:nvPr>
        </p:nvSpPr>
        <p:spPr>
          <a:xfrm>
            <a:off x="6286512" y="1214428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/>
          </a:p>
        </p:txBody>
      </p:sp>
      <p:sp>
        <p:nvSpPr>
          <p:cNvPr id="296" name="Google Shape;296;p36"/>
          <p:cNvSpPr txBox="1">
            <a:spLocks noGrp="1"/>
          </p:cNvSpPr>
          <p:nvPr>
            <p:ph type="title" idx="15"/>
          </p:nvPr>
        </p:nvSpPr>
        <p:spPr>
          <a:xfrm>
            <a:off x="1857356" y="2857502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/>
          </a:p>
        </p:txBody>
      </p:sp>
      <p:sp>
        <p:nvSpPr>
          <p:cNvPr id="297" name="Google Shape;297;p36"/>
          <p:cNvSpPr txBox="1">
            <a:spLocks noGrp="1"/>
          </p:cNvSpPr>
          <p:nvPr>
            <p:ph type="subTitle" idx="16"/>
          </p:nvPr>
        </p:nvSpPr>
        <p:spPr>
          <a:xfrm>
            <a:off x="1142976" y="1785932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What is CRC?</a:t>
            </a:r>
            <a:endParaRPr/>
          </a:p>
        </p:txBody>
      </p:sp>
      <p:sp>
        <p:nvSpPr>
          <p:cNvPr id="298" name="Google Shape;298;p36"/>
          <p:cNvSpPr txBox="1">
            <a:spLocks noGrp="1"/>
          </p:cNvSpPr>
          <p:nvPr>
            <p:ph type="subTitle" idx="17"/>
          </p:nvPr>
        </p:nvSpPr>
        <p:spPr>
          <a:xfrm>
            <a:off x="5786446" y="3500444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Demerits</a:t>
            </a:r>
            <a:endParaRPr/>
          </a:p>
        </p:txBody>
      </p:sp>
      <p:sp>
        <p:nvSpPr>
          <p:cNvPr id="300" name="Google Shape;300;p36"/>
          <p:cNvSpPr txBox="1">
            <a:spLocks noGrp="1"/>
          </p:cNvSpPr>
          <p:nvPr>
            <p:ph type="subTitle" idx="19"/>
          </p:nvPr>
        </p:nvSpPr>
        <p:spPr>
          <a:xfrm>
            <a:off x="5643570" y="1714494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Steps</a:t>
            </a:r>
            <a:endParaRPr/>
          </a:p>
        </p:txBody>
      </p:sp>
      <p:sp>
        <p:nvSpPr>
          <p:cNvPr id="302" name="Google Shape;302;p36"/>
          <p:cNvSpPr txBox="1">
            <a:spLocks noGrp="1"/>
          </p:cNvSpPr>
          <p:nvPr>
            <p:ph type="subTitle" idx="21"/>
          </p:nvPr>
        </p:nvSpPr>
        <p:spPr>
          <a:xfrm>
            <a:off x="1142976" y="3571882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Applications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WHAT  IS  CRC??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body" idx="4294967295"/>
          </p:nvPr>
        </p:nvSpPr>
        <p:spPr>
          <a:xfrm>
            <a:off x="571472" y="1357304"/>
            <a:ext cx="7929618" cy="3286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 smtClean="0">
                <a:latin typeface="Chivo" charset="0"/>
                <a:ea typeface="Chivo" charset="0"/>
                <a:cs typeface="Chivo" charset="0"/>
              </a:rPr>
              <a:t>Cyclic Redundancy Check (CRC) is an error-detection technique in computer networks that uses polynomial division to verify </a:t>
            </a:r>
            <a:r>
              <a:rPr lang="en-US" b="1" dirty="0" smtClean="0">
                <a:latin typeface="Chivo" charset="0"/>
                <a:ea typeface="Chivo" charset="0"/>
                <a:cs typeface="Chivo" charset="0"/>
              </a:rPr>
              <a:t>data integrity</a:t>
            </a:r>
            <a:r>
              <a:rPr lang="en-US" b="1" dirty="0" smtClean="0">
                <a:latin typeface="Chivo" charset="0"/>
                <a:ea typeface="Chivo" charset="0"/>
                <a:cs typeface="Chivo" charset="0"/>
              </a:rPr>
              <a:t>. </a:t>
            </a:r>
            <a:endParaRPr lang="en-US" b="1" dirty="0" smtClean="0">
              <a:latin typeface="Chivo" charset="0"/>
              <a:ea typeface="Chivo" charset="0"/>
              <a:cs typeface="Chivo" charset="0"/>
            </a:endParaRPr>
          </a:p>
          <a:p>
            <a:pPr marL="0" lvl="0" indent="0">
              <a:buNone/>
            </a:pPr>
            <a:endParaRPr lang="en-US" b="1" dirty="0" smtClean="0">
              <a:latin typeface="Chivo" charset="0"/>
              <a:ea typeface="Chivo" charset="0"/>
              <a:cs typeface="Chivo" charset="0"/>
            </a:endParaRPr>
          </a:p>
          <a:p>
            <a:pPr marL="0" lvl="0" indent="0">
              <a:buNone/>
            </a:pPr>
            <a:r>
              <a:rPr lang="en-US" b="1" dirty="0" smtClean="0">
                <a:latin typeface="Chivo" charset="0"/>
                <a:ea typeface="Chivo" charset="0"/>
                <a:cs typeface="Chivo" charset="0"/>
              </a:rPr>
              <a:t>It </a:t>
            </a:r>
            <a:r>
              <a:rPr lang="en-US" b="1" dirty="0" smtClean="0">
                <a:latin typeface="Chivo" charset="0"/>
                <a:ea typeface="Chivo" charset="0"/>
                <a:cs typeface="Chivo" charset="0"/>
              </a:rPr>
              <a:t>appends a CRC code (remainder) to the data frame, generated by dividing the data bits by a predefined generator polynomial. At the receiver, the same division verifies the remainder, detecting errors caused during transmission.</a:t>
            </a:r>
            <a:endParaRPr b="1">
              <a:latin typeface="Chivo" charset="0"/>
              <a:ea typeface="Chivo" charset="0"/>
              <a:cs typeface="Chiv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000" y="1330050"/>
            <a:ext cx="7704000" cy="3384840"/>
          </a:xfrm>
        </p:spPr>
        <p:txBody>
          <a:bodyPr/>
          <a:lstStyle/>
          <a:p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Choose </a:t>
            </a:r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Polynomial: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Select a generator polynomial shared by sender and receiver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.</a:t>
            </a:r>
          </a:p>
          <a:p>
            <a:pPr>
              <a:buNone/>
            </a:pPr>
            <a:endParaRPr lang="en-US" sz="1600" b="1" dirty="0" smtClean="0">
              <a:latin typeface="Chivo" charset="0"/>
              <a:ea typeface="Chivo" charset="0"/>
              <a:cs typeface="Chivo" charset="0"/>
            </a:endParaRPr>
          </a:p>
          <a:p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Append </a:t>
            </a:r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Zeros: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Add 𝑛 zeros (degree of polynomial) to the data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.</a:t>
            </a:r>
          </a:p>
          <a:p>
            <a:pPr>
              <a:buNone/>
            </a:pPr>
            <a:endParaRPr lang="en-US" sz="1600" b="1" dirty="0" smtClean="0">
              <a:latin typeface="Chivo" charset="0"/>
              <a:ea typeface="Chivo" charset="0"/>
              <a:cs typeface="Chivo" charset="0"/>
            </a:endParaRPr>
          </a:p>
          <a:p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Divide</a:t>
            </a:r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: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Perform binary division of the augmented data by the polynomial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.</a:t>
            </a:r>
          </a:p>
          <a:p>
            <a:pPr>
              <a:buNone/>
            </a:pPr>
            <a:endParaRPr lang="en-US" sz="1600" b="1" dirty="0" smtClean="0">
              <a:latin typeface="Chivo" charset="0"/>
              <a:ea typeface="Chivo" charset="0"/>
              <a:cs typeface="Chivo" charset="0"/>
            </a:endParaRPr>
          </a:p>
          <a:p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Generate </a:t>
            </a:r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CRC: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The remainder is the CRC value, appended to the data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.</a:t>
            </a:r>
          </a:p>
          <a:p>
            <a:pPr>
              <a:buNone/>
            </a:pPr>
            <a:endParaRPr lang="en-US" sz="1600" b="1" dirty="0" smtClean="0">
              <a:latin typeface="Chivo" charset="0"/>
              <a:ea typeface="Chivo" charset="0"/>
              <a:cs typeface="Chivo" charset="0"/>
            </a:endParaRPr>
          </a:p>
          <a:p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Verify</a:t>
            </a:r>
            <a:r>
              <a:rPr lang="en-US" sz="1600" b="1" u="sng" dirty="0" smtClean="0">
                <a:latin typeface="Chivo" charset="0"/>
                <a:ea typeface="Chivo" charset="0"/>
                <a:cs typeface="Chivo" charset="0"/>
              </a:rPr>
              <a:t>: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Receiver checks the division; zero remainder means no errors.</a:t>
            </a:r>
            <a:endParaRPr lang="en-US" sz="1600" b="1" dirty="0">
              <a:latin typeface="Chivo" charset="0"/>
              <a:ea typeface="Chivo" charset="0"/>
              <a:cs typeface="Chivo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Calculate CRC: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14348" y="1071552"/>
            <a:ext cx="7704000" cy="3233100"/>
          </a:xfrm>
        </p:spPr>
        <p:txBody>
          <a:bodyPr/>
          <a:lstStyle/>
          <a:p>
            <a:pPr>
              <a:buNone/>
            </a:pP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1.Error Detection in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Networks:</a:t>
            </a:r>
          </a:p>
          <a:p>
            <a:pPr>
              <a:buNone/>
            </a:pP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Used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in Ethernet, Wi-Fi, and other network protocols to detect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error transmitted frames.</a:t>
            </a:r>
          </a:p>
          <a:p>
            <a:pPr>
              <a:buNone/>
            </a:pPr>
            <a:endParaRPr lang="en-US" sz="1600" b="1" dirty="0" smtClean="0">
              <a:latin typeface="Chivo" charset="0"/>
              <a:ea typeface="Chivo" charset="0"/>
              <a:cs typeface="Chivo" charset="0"/>
            </a:endParaRPr>
          </a:p>
          <a:p>
            <a:pPr>
              <a:buNone/>
            </a:pP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2.Data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Storage Validation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:</a:t>
            </a:r>
          </a:p>
          <a:p>
            <a:pPr>
              <a:buNone/>
            </a:pP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Verifies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data integrity in storage devices like hard drives, SSDs, and CDs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.</a:t>
            </a:r>
          </a:p>
          <a:p>
            <a:pPr>
              <a:buNone/>
            </a:pPr>
            <a:endParaRPr lang="en-US" sz="1600" b="1" dirty="0" smtClean="0">
              <a:latin typeface="Chivo" charset="0"/>
              <a:ea typeface="Chivo" charset="0"/>
              <a:cs typeface="Chivo" charset="0"/>
            </a:endParaRPr>
          </a:p>
          <a:p>
            <a:pPr>
              <a:buNone/>
            </a:pP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3.File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Transfers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:</a:t>
            </a:r>
          </a:p>
          <a:p>
            <a:pPr>
              <a:buNone/>
            </a:pP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Ensures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correct transmission of files over communication systems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.</a:t>
            </a:r>
          </a:p>
          <a:p>
            <a:pPr>
              <a:buNone/>
            </a:pPr>
            <a:endParaRPr lang="en-US" sz="1600" b="1" dirty="0" smtClean="0">
              <a:latin typeface="Chivo" charset="0"/>
              <a:ea typeface="Chivo" charset="0"/>
              <a:cs typeface="Chivo" charset="0"/>
            </a:endParaRPr>
          </a:p>
          <a:p>
            <a:pPr>
              <a:buNone/>
            </a:pP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4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. Embedded Systems and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IOT:</a:t>
            </a:r>
          </a:p>
          <a:p>
            <a:pPr>
              <a:buNone/>
            </a:pP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Used </a:t>
            </a:r>
            <a:r>
              <a:rPr lang="en-US" sz="1600" b="1" dirty="0" smtClean="0">
                <a:latin typeface="Chivo" charset="0"/>
                <a:ea typeface="Chivo" charset="0"/>
                <a:cs typeface="Chivo" charset="0"/>
              </a:rPr>
              <a:t>in resource-constrained devices for lightweight error checking.</a:t>
            </a:r>
            <a:endParaRPr lang="en-US" sz="1600" b="1" dirty="0">
              <a:latin typeface="Chivo" charset="0"/>
              <a:ea typeface="Chivo" charset="0"/>
              <a:cs typeface="Chivo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4348" y="214296"/>
            <a:ext cx="7704000" cy="572700"/>
          </a:xfrm>
        </p:spPr>
        <p:txBody>
          <a:bodyPr/>
          <a:lstStyle/>
          <a:p>
            <a:r>
              <a:rPr lang="en-US" dirty="0" smtClean="0"/>
              <a:t>Applications of </a:t>
            </a:r>
            <a:r>
              <a:rPr lang="en-US" dirty="0" smtClean="0"/>
              <a:t>CRC:-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14348" y="1214428"/>
            <a:ext cx="7704000" cy="3233100"/>
          </a:xfrm>
        </p:spPr>
        <p:txBody>
          <a:bodyPr/>
          <a:lstStyle/>
          <a:p>
            <a:pPr>
              <a:buNone/>
            </a:pPr>
            <a:r>
              <a:rPr lang="en-US" sz="1600" b="1" dirty="0" smtClean="0"/>
              <a:t>1.Complexity : CRC </a:t>
            </a:r>
            <a:r>
              <a:rPr lang="en-US" sz="1600" b="1" dirty="0" smtClean="0"/>
              <a:t>calculations are more complex compared to simpler methods like checksums</a:t>
            </a:r>
            <a:r>
              <a:rPr lang="en-US" sz="1600" b="1" dirty="0" smtClean="0"/>
              <a:t>.</a:t>
            </a:r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r>
              <a:rPr lang="en-US" sz="1600" b="1" dirty="0" smtClean="0"/>
              <a:t>2.Overhead : Requires </a:t>
            </a:r>
            <a:r>
              <a:rPr lang="en-US" sz="1600" b="1" dirty="0" smtClean="0"/>
              <a:t>additional computational resources and processing time, especially with large data</a:t>
            </a:r>
            <a:r>
              <a:rPr lang="en-US" sz="1600" b="1" dirty="0" smtClean="0"/>
              <a:t>.</a:t>
            </a:r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r>
              <a:rPr lang="en-US" sz="1600" b="1" dirty="0" smtClean="0"/>
              <a:t>3.Limited </a:t>
            </a:r>
            <a:r>
              <a:rPr lang="en-US" sz="1600" b="1" dirty="0" smtClean="0"/>
              <a:t>Error </a:t>
            </a:r>
            <a:r>
              <a:rPr lang="en-US" sz="1600" b="1" dirty="0" smtClean="0"/>
              <a:t>Detection : While </a:t>
            </a:r>
            <a:r>
              <a:rPr lang="en-US" sz="1600" b="1" dirty="0" smtClean="0"/>
              <a:t>effective for burst errors, CRC may not detect all types of errors, particularly in highly corrupted data</a:t>
            </a:r>
            <a:r>
              <a:rPr lang="en-US" sz="1600" b="1" dirty="0" smtClean="0"/>
              <a:t>.</a:t>
            </a:r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r>
              <a:rPr lang="en-US" sz="1600" b="1" dirty="0" smtClean="0"/>
              <a:t>4.Fixed Polynomial : The </a:t>
            </a:r>
            <a:r>
              <a:rPr lang="en-US" sz="1600" b="1" dirty="0" smtClean="0"/>
              <a:t>effectiveness of CRC depends on the chosen polynomial; an incorrect or weak polynomial can reduce error detection efficiency.</a:t>
            </a:r>
            <a:endParaRPr lang="en-US" sz="16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Demerits of CRC: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1857370"/>
            <a:ext cx="7704000" cy="572700"/>
          </a:xfrm>
        </p:spPr>
        <p:txBody>
          <a:bodyPr/>
          <a:lstStyle/>
          <a:p>
            <a:r>
              <a:rPr lang="en-US" sz="6000" dirty="0" smtClean="0"/>
              <a:t>THANK  YOU!!!!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. Robert Oppenheimer Thesis Defense by Slidesgo">
  <a:themeElements>
    <a:clrScheme name="Simple Light">
      <a:dk1>
        <a:srgbClr val="E0CCA2"/>
      </a:dk1>
      <a:lt1>
        <a:srgbClr val="171D26"/>
      </a:lt1>
      <a:dk2>
        <a:srgbClr val="FFFFFF"/>
      </a:dk2>
      <a:lt2>
        <a:srgbClr val="C9AE76"/>
      </a:lt2>
      <a:accent1>
        <a:srgbClr val="A38F66"/>
      </a:accent1>
      <a:accent2>
        <a:srgbClr val="91662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328</Words>
  <PresentationFormat>On-screen Show (16:9)</PresentationFormat>
  <Paragraphs>55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IBM Plex Sans KR</vt:lpstr>
      <vt:lpstr>IBM Plex Sans KR SemiBold</vt:lpstr>
      <vt:lpstr>Chivo</vt:lpstr>
      <vt:lpstr>Nunito Light</vt:lpstr>
      <vt:lpstr>DM Sans</vt:lpstr>
      <vt:lpstr>Dr. Robert Oppenheimer Thesis Defense by Slidesgo</vt:lpstr>
      <vt:lpstr>Cyclic Redundancy Check (CRC)</vt:lpstr>
      <vt:lpstr>PREPARED   BY:-</vt:lpstr>
      <vt:lpstr>Table of contents</vt:lpstr>
      <vt:lpstr>WHAT  IS  CRC??</vt:lpstr>
      <vt:lpstr>Steps to Calculate CRC:</vt:lpstr>
      <vt:lpstr>Applications of CRC:-</vt:lpstr>
      <vt:lpstr>Demerits of CRC:</vt:lpstr>
      <vt:lpstr>THANK  YOU!!!!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Cyclic Redundancy Check (CRC)</dc:title>
  <dc:creator>Dolphin</dc:creator>
  <cp:lastModifiedBy>Acer</cp:lastModifiedBy>
  <cp:revision>1</cp:revision>
  <dcterms:modified xsi:type="dcterms:W3CDTF">2024-12-17T18:05:01Z</dcterms:modified>
</cp:coreProperties>
</file>